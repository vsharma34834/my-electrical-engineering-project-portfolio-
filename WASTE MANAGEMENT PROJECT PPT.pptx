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xmidevihu@gmail.com" userId="14854f787ce2171e" providerId="LiveId" clId="{EFBF3705-FDD3-4B21-A759-00C8CAB948F2}"/>
    <pc:docChg chg="modSld sldOrd">
      <pc:chgData name="laxmidevihu@gmail.com" userId="14854f787ce2171e" providerId="LiveId" clId="{EFBF3705-FDD3-4B21-A759-00C8CAB948F2}" dt="2025-11-12T08:01:54.906" v="1"/>
      <pc:docMkLst>
        <pc:docMk/>
      </pc:docMkLst>
      <pc:sldChg chg="ord">
        <pc:chgData name="laxmidevihu@gmail.com" userId="14854f787ce2171e" providerId="LiveId" clId="{EFBF3705-FDD3-4B21-A759-00C8CAB948F2}" dt="2025-11-12T08:01:54.906" v="1"/>
        <pc:sldMkLst>
          <pc:docMk/>
          <pc:sldMk cId="552232593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ECAE-976E-4E64-A0EF-53B5D5DC711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6CEFE-2FC7-40F0-84B3-BF4C7E3B0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025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ECAE-976E-4E64-A0EF-53B5D5DC711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2ED6CEFE-2FC7-40F0-84B3-BF4C7E3B0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04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ECAE-976E-4E64-A0EF-53B5D5DC711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6CEFE-2FC7-40F0-84B3-BF4C7E3B0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87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ECAE-976E-4E64-A0EF-53B5D5DC711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6CEFE-2FC7-40F0-84B3-BF4C7E3B0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200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ECAE-976E-4E64-A0EF-53B5D5DC711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6CEFE-2FC7-40F0-84B3-BF4C7E3B0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376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ECAE-976E-4E64-A0EF-53B5D5DC711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6CEFE-2FC7-40F0-84B3-BF4C7E3B0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98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ECAE-976E-4E64-A0EF-53B5D5DC711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6CEFE-2FC7-40F0-84B3-BF4C7E3B0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90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ECAE-976E-4E64-A0EF-53B5D5DC711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6CEFE-2FC7-40F0-84B3-BF4C7E3B0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89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ECAE-976E-4E64-A0EF-53B5D5DC711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6CEFE-2FC7-40F0-84B3-BF4C7E3B0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869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ECAE-976E-4E64-A0EF-53B5D5DC711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6CEFE-2FC7-40F0-84B3-BF4C7E3B0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607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ECAE-976E-4E64-A0EF-53B5D5DC711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6CEFE-2FC7-40F0-84B3-BF4C7E3B0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385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ECAE-976E-4E64-A0EF-53B5D5DC711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6CEFE-2FC7-40F0-84B3-BF4C7E3B0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510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ECAE-976E-4E64-A0EF-53B5D5DC711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6CEFE-2FC7-40F0-84B3-BF4C7E3B0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137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ECAE-976E-4E64-A0EF-53B5D5DC711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6CEFE-2FC7-40F0-84B3-BF4C7E3B0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972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ECAE-976E-4E64-A0EF-53B5D5DC711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6CEFE-2FC7-40F0-84B3-BF4C7E3B0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035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ECAE-976E-4E64-A0EF-53B5D5DC711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6CEFE-2FC7-40F0-84B3-BF4C7E3B0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3441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7ECAE-976E-4E64-A0EF-53B5D5DC711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6CEFE-2FC7-40F0-84B3-BF4C7E3B0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46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527ECAE-976E-4E64-A0EF-53B5D5DC711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ED6CEFE-2FC7-40F0-84B3-BF4C7E3B0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509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AC0AE-9281-6E17-CBED-E3CA393672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C000"/>
                </a:solidFill>
              </a:rPr>
              <a:t>Generation of Electricity</a:t>
            </a:r>
            <a:br>
              <a:rPr lang="en-IN" b="1" dirty="0">
                <a:solidFill>
                  <a:srgbClr val="FFC000"/>
                </a:solidFill>
              </a:rPr>
            </a:br>
            <a:r>
              <a:rPr lang="en-IN" b="1" dirty="0">
                <a:solidFill>
                  <a:srgbClr val="FFC000"/>
                </a:solidFill>
              </a:rPr>
              <a:t>by Waste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B9FE77-6B0C-DA7C-60DF-9B93211201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IN" sz="2800" dirty="0"/>
              <a:t>Presented By : Vivek Rawat &amp; Pranay Sharma</a:t>
            </a:r>
          </a:p>
          <a:p>
            <a:pPr algn="ctr"/>
            <a:r>
              <a:rPr lang="en-IN" sz="2300" dirty="0"/>
              <a:t>BSA College of Engineering &amp; Technology , Mathura</a:t>
            </a:r>
          </a:p>
        </p:txBody>
      </p:sp>
    </p:spTree>
    <p:extLst>
      <p:ext uri="{BB962C8B-B14F-4D97-AF65-F5344CB8AC3E}">
        <p14:creationId xmlns:p14="http://schemas.microsoft.com/office/powerpoint/2010/main" val="17174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4FD82-02ED-DBDB-7104-AC98F2BC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03124"/>
            <a:ext cx="10018713" cy="2263876"/>
          </a:xfrm>
        </p:spPr>
        <p:txBody>
          <a:bodyPr>
            <a:normAutofit fontScale="90000"/>
          </a:bodyPr>
          <a:lstStyle/>
          <a:p>
            <a:r>
              <a:rPr lang="en-IN" b="1" u="sng" dirty="0">
                <a:solidFill>
                  <a:srgbClr val="FFC000"/>
                </a:solidFill>
              </a:rPr>
              <a:t>INTRODUCTION</a:t>
            </a:r>
            <a:br>
              <a:rPr lang="en-IN" b="1" u="sng" dirty="0">
                <a:solidFill>
                  <a:srgbClr val="FFC000"/>
                </a:solidFill>
              </a:rPr>
            </a:br>
            <a:r>
              <a:rPr lang="en-US" sz="2700" dirty="0"/>
              <a:t>Electricity generation from waste refers to the process of converting various types of waste materials into electrical energy through different technologies.</a:t>
            </a:r>
            <a:br>
              <a:rPr lang="en-US" sz="2700" dirty="0"/>
            </a:br>
            <a:endParaRPr lang="en-IN" sz="2700" b="1" dirty="0"/>
          </a:p>
        </p:txBody>
      </p:sp>
      <p:pic>
        <p:nvPicPr>
          <p:cNvPr id="1026" name="Picture 2" descr="Flow Chart of Waste to Energy Generation Process | Download ...">
            <a:extLst>
              <a:ext uri="{FF2B5EF4-FFF2-40B4-BE49-F238E27FC236}">
                <a16:creationId xmlns:a16="http://schemas.microsoft.com/office/drawing/2014/main" id="{43F79E18-AB35-473B-F911-241FB36F14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968" y="2262980"/>
            <a:ext cx="9124335" cy="3931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180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CAE68-2363-1787-DF25-E4F741538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734961"/>
            <a:ext cx="10018713" cy="1752599"/>
          </a:xfrm>
        </p:spPr>
        <p:txBody>
          <a:bodyPr>
            <a:normAutofit fontScale="90000"/>
          </a:bodyPr>
          <a:lstStyle/>
          <a:p>
            <a:r>
              <a:rPr lang="en-IN" b="1" u="sng" dirty="0">
                <a:solidFill>
                  <a:srgbClr val="FFC000"/>
                </a:solidFill>
              </a:rPr>
              <a:t>Need for Waste-to-Energy</a:t>
            </a:r>
            <a:br>
              <a:rPr lang="en-IN" dirty="0"/>
            </a:br>
            <a:r>
              <a:rPr lang="en-US" sz="2700" dirty="0"/>
              <a:t>Increasing population and industrialization have led to large quantities of waste. Waste-to-Energy (WTE) provides an effective solution for waste management while generating useful electricity.</a:t>
            </a:r>
            <a:br>
              <a:rPr lang="en-US" sz="2700" dirty="0"/>
            </a:br>
            <a:r>
              <a:rPr lang="en-IN" sz="2700" dirty="0"/>
              <a:t> </a:t>
            </a:r>
          </a:p>
        </p:txBody>
      </p:sp>
      <p:pic>
        <p:nvPicPr>
          <p:cNvPr id="2052" name="Picture 4" descr="World population graph hi-res stock photography and images - Alamy">
            <a:extLst>
              <a:ext uri="{FF2B5EF4-FFF2-40B4-BE49-F238E27FC236}">
                <a16:creationId xmlns:a16="http://schemas.microsoft.com/office/drawing/2014/main" id="{342F2AF3-92CE-9FF3-1CF7-30E390C4EC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00"/>
          <a:stretch>
            <a:fillRect/>
          </a:stretch>
        </p:blipFill>
        <p:spPr bwMode="auto">
          <a:xfrm>
            <a:off x="1995125" y="2487559"/>
            <a:ext cx="4100875" cy="323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ndustrial Waste-to-Energy - A Step towards Reduced Carbon Footprint -  Woima Corporation">
            <a:extLst>
              <a:ext uri="{FF2B5EF4-FFF2-40B4-BE49-F238E27FC236}">
                <a16:creationId xmlns:a16="http://schemas.microsoft.com/office/drawing/2014/main" id="{1563EA38-EC77-3118-3D38-7B4E66B2B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506" y="2487559"/>
            <a:ext cx="4100875" cy="323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F44F1B-7CF6-7A24-4D9F-39D8F45E47F1}"/>
              </a:ext>
            </a:extLst>
          </p:cNvPr>
          <p:cNvSpPr txBox="1"/>
          <p:nvPr/>
        </p:nvSpPr>
        <p:spPr>
          <a:xfrm>
            <a:off x="2557814" y="5753707"/>
            <a:ext cx="2975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Increasing population growth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15DC6D-4225-D6AF-E5D3-1F22A310E14C}"/>
              </a:ext>
            </a:extLst>
          </p:cNvPr>
          <p:cNvSpPr txBox="1"/>
          <p:nvPr/>
        </p:nvSpPr>
        <p:spPr>
          <a:xfrm>
            <a:off x="8603225" y="5753707"/>
            <a:ext cx="2707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Increasing industrial waste</a:t>
            </a:r>
          </a:p>
        </p:txBody>
      </p:sp>
    </p:spTree>
    <p:extLst>
      <p:ext uri="{BB962C8B-B14F-4D97-AF65-F5344CB8AC3E}">
        <p14:creationId xmlns:p14="http://schemas.microsoft.com/office/powerpoint/2010/main" val="2182999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41443-31AB-D0E8-84A3-A14B4172F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rgbClr val="FFC000"/>
                </a:solidFill>
              </a:rPr>
              <a:t>Sources of Waste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67847-3C89-9480-A724-29842AEC5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0117" y="2057399"/>
            <a:ext cx="10018713" cy="3124201"/>
          </a:xfrm>
        </p:spPr>
        <p:txBody>
          <a:bodyPr/>
          <a:lstStyle/>
          <a:p>
            <a:r>
              <a:rPr lang="en-US" dirty="0"/>
              <a:t>1. Municipal Solid Waste (MSW)</a:t>
            </a:r>
          </a:p>
          <a:p>
            <a:r>
              <a:rPr lang="en-US" dirty="0"/>
              <a:t>2. Agricultural Waste</a:t>
            </a:r>
          </a:p>
          <a:p>
            <a:r>
              <a:rPr lang="en-US" dirty="0"/>
              <a:t>3. Industrial Waste</a:t>
            </a:r>
          </a:p>
          <a:p>
            <a:r>
              <a:rPr lang="en-US" dirty="0"/>
              <a:t>4. Plastic Waste</a:t>
            </a:r>
          </a:p>
          <a:p>
            <a:r>
              <a:rPr lang="en-US" dirty="0"/>
              <a:t>5. Biomass Waste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738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8B17E-1D3E-CFEC-29AB-850F22D0B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dirty="0">
                <a:solidFill>
                  <a:srgbClr val="FFC000"/>
                </a:solidFill>
              </a:rPr>
              <a:t>Concept of Waste-to-Energy</a:t>
            </a:r>
            <a:br>
              <a:rPr lang="en-IN" dirty="0"/>
            </a:br>
            <a:r>
              <a:rPr lang="en-US" sz="2700" dirty="0"/>
              <a:t>The concept is based on converting the chemical energy stored in waste materials into usable electrical energy using thermal, biological, or mechanical processes.</a:t>
            </a:r>
            <a:br>
              <a:rPr lang="en-US" sz="2700" dirty="0"/>
            </a:br>
            <a:endParaRPr lang="en-IN" sz="2700" dirty="0"/>
          </a:p>
        </p:txBody>
      </p:sp>
      <p:pic>
        <p:nvPicPr>
          <p:cNvPr id="3074" name="Picture 2" descr="Block flow diagram of a waste to energy process using pyrolysis | Download  Scientific Diagram">
            <a:extLst>
              <a:ext uri="{FF2B5EF4-FFF2-40B4-BE49-F238E27FC236}">
                <a16:creationId xmlns:a16="http://schemas.microsoft.com/office/drawing/2014/main" id="{55AFAA1D-F3BF-ABCC-A235-E8E89C188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899" y="2314729"/>
            <a:ext cx="9544357" cy="37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7761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E94F-48E7-A538-4CB1-D8D8D231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rgbClr val="FFC000"/>
                </a:solidFill>
              </a:rPr>
              <a:t>Method of Electricity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23ABB-4A2D-9582-140D-63894A82E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Incineration</a:t>
            </a:r>
          </a:p>
          <a:p>
            <a:r>
              <a:rPr lang="en-US" dirty="0"/>
              <a:t>2. Gasification</a:t>
            </a:r>
          </a:p>
          <a:p>
            <a:r>
              <a:rPr lang="en-US" dirty="0"/>
              <a:t>3. Pyrolysis</a:t>
            </a:r>
          </a:p>
          <a:p>
            <a:r>
              <a:rPr lang="en-US" dirty="0"/>
              <a:t>4. Anaerobic Digestion</a:t>
            </a:r>
          </a:p>
          <a:p>
            <a:r>
              <a:rPr lang="en-US" dirty="0"/>
              <a:t>5. Landfill Gas Recovery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2232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6DE8127-8B92-8300-47C2-790E2A0A7D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84313" y="654160"/>
            <a:ext cx="100187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FFC000"/>
                </a:solidFill>
              </a:rPr>
              <a:t>Incineration Process</a:t>
            </a:r>
            <a:br>
              <a:rPr lang="en-US" b="1" u="sng" dirty="0"/>
            </a:br>
            <a:r>
              <a:rPr lang="en-US" sz="2400" dirty="0"/>
              <a:t>Involves burning waste at high temperatures to produce heat, which is used to generate steam and drive turbines for electricity production.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4098" name="Picture 2" descr="Solid Waste Incineration">
            <a:extLst>
              <a:ext uri="{FF2B5EF4-FFF2-40B4-BE49-F238E27FC236}">
                <a16:creationId xmlns:a16="http://schemas.microsoft.com/office/drawing/2014/main" id="{0C6ADF4D-1603-0549-C56C-5A7475F5E5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987" y="2667000"/>
            <a:ext cx="8986684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7071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FF91C-E277-5EB7-9913-90D58076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dirty="0">
                <a:solidFill>
                  <a:srgbClr val="FFC000"/>
                </a:solidFill>
              </a:rPr>
              <a:t>Gasification Process</a:t>
            </a:r>
            <a:br>
              <a:rPr lang="en-IN" dirty="0"/>
            </a:br>
            <a:r>
              <a:rPr lang="en-US" sz="2700" dirty="0"/>
              <a:t>Partial combustion of waste in limited oxygen produces syngas (CO + H2), which is used to drive gas turbines to produce electricity.</a:t>
            </a:r>
            <a:br>
              <a:rPr lang="en-US" sz="2700" dirty="0"/>
            </a:br>
            <a:endParaRPr lang="en-IN" sz="27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08A27F3-E269-0C03-36D5-A7BB9CBF369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231" y="2320413"/>
            <a:ext cx="7462683" cy="3608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0167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E1DB9-D2D4-A814-A34F-8E9732262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dirty="0">
                <a:solidFill>
                  <a:srgbClr val="FFC000"/>
                </a:solidFill>
              </a:rPr>
              <a:t>Pyrolysis Process</a:t>
            </a:r>
            <a:br>
              <a:rPr lang="en-IN" dirty="0"/>
            </a:br>
            <a:r>
              <a:rPr lang="en-US" sz="2700" dirty="0"/>
              <a:t>Thermal decomposition of organic waste materials at high temperatures in the absence of oxygen. Produces oil, gas, and char as useful by-products.</a:t>
            </a:r>
            <a:br>
              <a:rPr lang="en-US" sz="2700" dirty="0"/>
            </a:br>
            <a:endParaRPr lang="en-IN" sz="2700" dirty="0"/>
          </a:p>
        </p:txBody>
      </p:sp>
      <p:pic>
        <p:nvPicPr>
          <p:cNvPr id="6146" name="Picture 2" descr="A general process flow diagram for pyrolysis process | Download Scientific  Diagram">
            <a:extLst>
              <a:ext uri="{FF2B5EF4-FFF2-40B4-BE49-F238E27FC236}">
                <a16:creationId xmlns:a16="http://schemas.microsoft.com/office/drawing/2014/main" id="{77CFB16F-1364-4295-BAAE-C6AF916779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593" y="2438400"/>
            <a:ext cx="8495071" cy="3441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876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866E9-F636-B1F4-4F14-924921DEF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dirty="0">
                <a:solidFill>
                  <a:srgbClr val="FFC000"/>
                </a:solidFill>
              </a:rPr>
              <a:t>Anaerobic Digestion</a:t>
            </a:r>
            <a:br>
              <a:rPr lang="en-IN" dirty="0"/>
            </a:br>
            <a:r>
              <a:rPr lang="en-US" sz="2700" dirty="0"/>
              <a:t>Biological breakdown of organic waste by microorganisms in the absence of oxygen, producing biogas (mainly methane) used to generate power.</a:t>
            </a:r>
            <a:br>
              <a:rPr lang="en-US" sz="2700" dirty="0"/>
            </a:br>
            <a:endParaRPr lang="en-IN" sz="2700" dirty="0"/>
          </a:p>
        </p:txBody>
      </p:sp>
      <p:pic>
        <p:nvPicPr>
          <p:cNvPr id="7170" name="Picture 2" descr="The anaerobic digestion process of swine manure - Articles - pig333, pig to  pork community">
            <a:extLst>
              <a:ext uri="{FF2B5EF4-FFF2-40B4-BE49-F238E27FC236}">
                <a16:creationId xmlns:a16="http://schemas.microsoft.com/office/drawing/2014/main" id="{AABC7B08-9144-F3F5-F342-F5DC0A59F5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419" y="2667000"/>
            <a:ext cx="8455742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85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2ECCF-0481-B4E6-3A9B-CEFA3AE82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dirty="0">
                <a:solidFill>
                  <a:srgbClr val="FFC000"/>
                </a:solidFill>
              </a:rPr>
              <a:t>Landfill Gas Recovery</a:t>
            </a:r>
            <a:br>
              <a:rPr lang="en-IN" dirty="0"/>
            </a:br>
            <a:r>
              <a:rPr lang="en-US" sz="2700" dirty="0"/>
              <a:t>Methane produced from decomposing waste in landfills is collected and used as a fuel to generate electricity.</a:t>
            </a:r>
            <a:br>
              <a:rPr lang="en-US" sz="2700" dirty="0"/>
            </a:br>
            <a:endParaRPr lang="en-IN" sz="2700" dirty="0"/>
          </a:p>
        </p:txBody>
      </p:sp>
      <p:pic>
        <p:nvPicPr>
          <p:cNvPr id="9218" name="Picture 2" descr="Basic Information about Landfill Gas | US EPA">
            <a:extLst>
              <a:ext uri="{FF2B5EF4-FFF2-40B4-BE49-F238E27FC236}">
                <a16:creationId xmlns:a16="http://schemas.microsoft.com/office/drawing/2014/main" id="{3C52C79B-5081-1C78-92BA-1A59FADC7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582" y="2343150"/>
            <a:ext cx="7905134" cy="382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340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17E33-177E-C555-8439-76463345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rgbClr val="FFC000"/>
                </a:solidFill>
              </a:rPr>
              <a:t>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668DB-8BD2-33B1-BC77-8802385E7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basic block diagram includes:</a:t>
            </a:r>
          </a:p>
          <a:p>
            <a:pPr marL="0" indent="0">
              <a:buNone/>
            </a:pPr>
            <a:r>
              <a:rPr lang="en-US" dirty="0"/>
              <a:t>           Waste collection </a:t>
            </a:r>
          </a:p>
          <a:p>
            <a:pPr marL="0" indent="0">
              <a:buNone/>
            </a:pPr>
            <a:r>
              <a:rPr lang="en-US" dirty="0"/>
              <a:t>          </a:t>
            </a:r>
          </a:p>
          <a:p>
            <a:pPr marL="0" indent="0">
              <a:buNone/>
            </a:pPr>
            <a:r>
              <a:rPr lang="en-US" dirty="0"/>
              <a:t>            Segregation                       Transmission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  Conversion process             Power generation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BDB4B2B6-545C-EF7E-D054-54B437D24923}"/>
              </a:ext>
            </a:extLst>
          </p:cNvPr>
          <p:cNvSpPr/>
          <p:nvPr/>
        </p:nvSpPr>
        <p:spPr>
          <a:xfrm>
            <a:off x="2782530" y="3835809"/>
            <a:ext cx="484632" cy="3932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8FD9FA97-7BF5-6A81-0EE8-AFD4038A7B18}"/>
              </a:ext>
            </a:extLst>
          </p:cNvPr>
          <p:cNvSpPr/>
          <p:nvPr/>
        </p:nvSpPr>
        <p:spPr>
          <a:xfrm>
            <a:off x="2782530" y="4813504"/>
            <a:ext cx="484632" cy="3932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EE076C0-D006-DE9A-5C6A-894B5587404B}"/>
              </a:ext>
            </a:extLst>
          </p:cNvPr>
          <p:cNvSpPr/>
          <p:nvPr/>
        </p:nvSpPr>
        <p:spPr>
          <a:xfrm>
            <a:off x="4306529" y="5306568"/>
            <a:ext cx="422787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527FDBE9-9D9E-6522-46B1-5791500A7DE2}"/>
              </a:ext>
            </a:extLst>
          </p:cNvPr>
          <p:cNvSpPr/>
          <p:nvPr/>
        </p:nvSpPr>
        <p:spPr>
          <a:xfrm>
            <a:off x="5761703" y="4856962"/>
            <a:ext cx="484632" cy="48463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93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B9A68-6033-A1DC-714F-7FBE04318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rgbClr val="FFC000"/>
                </a:solidFill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634DA-86AC-DC73-FF74-1EAE9D1DD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Reduces waste in landfills</a:t>
            </a:r>
          </a:p>
          <a:p>
            <a:r>
              <a:rPr lang="en-US" dirty="0"/>
              <a:t>2. Generates renewable energy</a:t>
            </a:r>
          </a:p>
          <a:p>
            <a:r>
              <a:rPr lang="en-US" dirty="0"/>
              <a:t>3. Reduces greenhouse gas emissions</a:t>
            </a:r>
          </a:p>
          <a:p>
            <a:r>
              <a:rPr lang="en-US" dirty="0"/>
              <a:t>4. Promotes sustainable waste management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3663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2A5B0-BE10-8CA6-DE0D-D778C9BA4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rgbClr val="FFC000"/>
                </a:solidFill>
              </a:rPr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F5F2B-DE29-D33C-547B-0B9EFEE03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High initial cost</a:t>
            </a:r>
          </a:p>
          <a:p>
            <a:r>
              <a:rPr lang="en-US" dirty="0"/>
              <a:t>2. Requires waste segregation</a:t>
            </a:r>
          </a:p>
          <a:p>
            <a:r>
              <a:rPr lang="en-US" dirty="0"/>
              <a:t>3. Emits pollutants if not controlled properly</a:t>
            </a:r>
          </a:p>
          <a:p>
            <a:r>
              <a:rPr lang="en-US" dirty="0"/>
              <a:t>4. Complex technology management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7768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DEB72-B426-30E9-099C-FA66B391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rgbClr val="FFC000"/>
                </a:solidFill>
              </a:rPr>
              <a:t>Environmental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FD6F5-5F0C-18EB-C5F5-0F0323B78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Waste-to-Energy plants can reduce landfill waste and methane emissions, but require strict pollution control systems to minimize air contamination.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0138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12B5-BBF2-0030-3B29-FDA34F409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rgbClr val="FFC000"/>
                </a:solidFill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77819-D4F2-3A0F-0636-FE2772169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With advancements in technology and increased focus on renewable energy, WTE has a strong potential in the future energy mix of India.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0693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7A08A-4D66-CF98-84AA-E07D71BC3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rgbClr val="FFC000"/>
                </a:solidFill>
              </a:rPr>
              <a:t>Government Initiatives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40C52-8F6D-F410-579D-871E8598D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Indian government has launched several programs under 'Swachh Bharat Mission' and 'Energy from Waste' policies to promote WTE projects.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275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567D5-0290-2B5B-BB6A-C7F3DB178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rgbClr val="FFC00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931A4-47EA-8762-3312-23E08446D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Generation of electricity from waste is a sustainable and environmentally friendly solution to both waste disposal and energy production.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1956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649A79-C84D-718D-4166-B62AC9AEC968}"/>
              </a:ext>
            </a:extLst>
          </p:cNvPr>
          <p:cNvSpPr txBox="1"/>
          <p:nvPr/>
        </p:nvSpPr>
        <p:spPr>
          <a:xfrm>
            <a:off x="2762863" y="2859198"/>
            <a:ext cx="7479099" cy="1631216"/>
          </a:xfrm>
          <a:prstGeom prst="rect">
            <a:avLst/>
          </a:prstGeom>
          <a:noFill/>
          <a:effectLst>
            <a:glow rad="63500">
              <a:schemeClr val="accent4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none" rtlCol="0">
            <a:spAutoFit/>
          </a:bodyPr>
          <a:lstStyle/>
          <a:p>
            <a:pPr algn="ctr"/>
            <a:r>
              <a:rPr lang="en-IN" sz="10000" dirty="0">
                <a:solidFill>
                  <a:srgbClr val="FFC000"/>
                </a:solidFill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9665137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127</TotalTime>
  <Words>470</Words>
  <Application>Microsoft Office PowerPoint</Application>
  <PresentationFormat>Widescreen</PresentationFormat>
  <Paragraphs>51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Corbel</vt:lpstr>
      <vt:lpstr>Parallax</vt:lpstr>
      <vt:lpstr>Generation of Electricity by Waste</vt:lpstr>
      <vt:lpstr>INTRODUCTION Electricity generation from waste refers to the process of converting various types of waste materials into electrical energy through different technologies. </vt:lpstr>
      <vt:lpstr>Need for Waste-to-Energy Increasing population and industrialization have led to large quantities of waste. Waste-to-Energy (WTE) provides an effective solution for waste management while generating useful electricity.  </vt:lpstr>
      <vt:lpstr>Sources of Waste</vt:lpstr>
      <vt:lpstr>Concept of Waste-to-Energy The concept is based on converting the chemical energy stored in waste materials into usable electrical energy using thermal, biological, or mechanical processes. </vt:lpstr>
      <vt:lpstr>Method of Electricity Generation</vt:lpstr>
      <vt:lpstr>Incineration Process Involves burning waste at high temperatures to produce heat, which is used to generate steam and drive turbines for electricity production. </vt:lpstr>
      <vt:lpstr>Gasification Process Partial combustion of waste in limited oxygen produces syngas (CO + H2), which is used to drive gas turbines to produce electricity. </vt:lpstr>
      <vt:lpstr>Pyrolysis Process Thermal decomposition of organic waste materials at high temperatures in the absence of oxygen. Produces oil, gas, and char as useful by-products. </vt:lpstr>
      <vt:lpstr>Anaerobic Digestion Biological breakdown of organic waste by microorganisms in the absence of oxygen, producing biogas (mainly methane) used to generate power. </vt:lpstr>
      <vt:lpstr>Landfill Gas Recovery Methane produced from decomposing waste in landfills is collected and used as a fuel to generate electricity. </vt:lpstr>
      <vt:lpstr>Block Diagram</vt:lpstr>
      <vt:lpstr>Advantages</vt:lpstr>
      <vt:lpstr>Disadvantages</vt:lpstr>
      <vt:lpstr>Environmental Impact</vt:lpstr>
      <vt:lpstr>Future Scope</vt:lpstr>
      <vt:lpstr>Government Initiatives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laxmidevihu@gmail.com</dc:creator>
  <cp:lastModifiedBy>laxmidevihu@gmail.com</cp:lastModifiedBy>
  <cp:revision>1</cp:revision>
  <dcterms:created xsi:type="dcterms:W3CDTF">2025-11-11T16:24:31Z</dcterms:created>
  <dcterms:modified xsi:type="dcterms:W3CDTF">2025-11-12T08:02:04Z</dcterms:modified>
</cp:coreProperties>
</file>