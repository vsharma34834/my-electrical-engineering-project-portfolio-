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2" r:id="rId14"/>
    <p:sldId id="273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421C3B-2183-471D-A655-B140C7D30EE9}" v="2" dt="2026-10-06T09:31:43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singh667531@gmail.com" userId="55f543fc4ff75894" providerId="LiveId" clId="{2F83C292-0E7C-49CB-B9D8-71F0889BB8A2}"/>
    <pc:docChg chg="delSld modSld">
      <pc:chgData name="ramsingh667531@gmail.com" userId="55f543fc4ff75894" providerId="LiveId" clId="{2F83C292-0E7C-49CB-B9D8-71F0889BB8A2}" dt="2026-10-06T09:32:14.854" v="19"/>
      <pc:docMkLst>
        <pc:docMk/>
      </pc:docMkLst>
      <pc:sldChg chg="addSp delSp modSp mod">
        <pc:chgData name="ramsingh667531@gmail.com" userId="55f543fc4ff75894" providerId="LiveId" clId="{2F83C292-0E7C-49CB-B9D8-71F0889BB8A2}" dt="2026-10-06T09:32:14.854" v="19"/>
        <pc:sldMkLst>
          <pc:docMk/>
          <pc:sldMk cId="0" sldId="256"/>
        </pc:sldMkLst>
        <pc:spChg chg="add del mod">
          <ac:chgData name="ramsingh667531@gmail.com" userId="55f543fc4ff75894" providerId="LiveId" clId="{2F83C292-0E7C-49CB-B9D8-71F0889BB8A2}" dt="2026-10-06T09:16:28.791" v="2"/>
          <ac:spMkLst>
            <pc:docMk/>
            <pc:sldMk cId="0" sldId="256"/>
            <ac:spMk id="3" creationId="{7B49FBD0-08EA-5C9F-CD04-0444ECCC99BA}"/>
          </ac:spMkLst>
        </pc:spChg>
        <pc:spChg chg="add del mod">
          <ac:chgData name="ramsingh667531@gmail.com" userId="55f543fc4ff75894" providerId="LiveId" clId="{2F83C292-0E7C-49CB-B9D8-71F0889BB8A2}" dt="2026-10-06T09:32:14.854" v="19"/>
          <ac:spMkLst>
            <pc:docMk/>
            <pc:sldMk cId="0" sldId="256"/>
            <ac:spMk id="4" creationId="{B2F23626-7854-751C-3522-F5182C89B143}"/>
          </ac:spMkLst>
        </pc:spChg>
      </pc:sldChg>
      <pc:sldChg chg="del">
        <pc:chgData name="ramsingh667531@gmail.com" userId="55f543fc4ff75894" providerId="LiveId" clId="{2F83C292-0E7C-49CB-B9D8-71F0889BB8A2}" dt="2026-10-06T09:18:03.962" v="3" actId="2696"/>
        <pc:sldMkLst>
          <pc:docMk/>
          <pc:sldMk cId="0" sldId="265"/>
        </pc:sldMkLst>
      </pc:sldChg>
      <pc:sldChg chg="modSp mod">
        <pc:chgData name="ramsingh667531@gmail.com" userId="55f543fc4ff75894" providerId="LiveId" clId="{2F83C292-0E7C-49CB-B9D8-71F0889BB8A2}" dt="2026-10-06T09:18:23.051" v="6" actId="20577"/>
        <pc:sldMkLst>
          <pc:docMk/>
          <pc:sldMk cId="0" sldId="267"/>
        </pc:sldMkLst>
        <pc:spChg chg="mod">
          <ac:chgData name="ramsingh667531@gmail.com" userId="55f543fc4ff75894" providerId="LiveId" clId="{2F83C292-0E7C-49CB-B9D8-71F0889BB8A2}" dt="2026-10-06T09:18:23.051" v="6" actId="20577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ramsingh667531@gmail.com" userId="55f543fc4ff75894" providerId="LiveId" clId="{2F83C292-0E7C-49CB-B9D8-71F0889BB8A2}" dt="2026-10-06T09:18:30.894" v="8" actId="20577"/>
        <pc:sldMkLst>
          <pc:docMk/>
          <pc:sldMk cId="0" sldId="268"/>
        </pc:sldMkLst>
        <pc:spChg chg="mod">
          <ac:chgData name="ramsingh667531@gmail.com" userId="55f543fc4ff75894" providerId="LiveId" clId="{2F83C292-0E7C-49CB-B9D8-71F0889BB8A2}" dt="2026-10-06T09:18:30.894" v="8" actId="20577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ramsingh667531@gmail.com" userId="55f543fc4ff75894" providerId="LiveId" clId="{2F83C292-0E7C-49CB-B9D8-71F0889BB8A2}" dt="2026-10-06T09:18:53.865" v="10" actId="20577"/>
        <pc:sldMkLst>
          <pc:docMk/>
          <pc:sldMk cId="0" sldId="269"/>
        </pc:sldMkLst>
        <pc:spChg chg="mod">
          <ac:chgData name="ramsingh667531@gmail.com" userId="55f543fc4ff75894" providerId="LiveId" clId="{2F83C292-0E7C-49CB-B9D8-71F0889BB8A2}" dt="2026-10-06T09:18:53.865" v="10" actId="20577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ramsingh667531@gmail.com" userId="55f543fc4ff75894" providerId="LiveId" clId="{2F83C292-0E7C-49CB-B9D8-71F0889BB8A2}" dt="2026-10-06T09:19:03.982" v="12" actId="20577"/>
        <pc:sldMkLst>
          <pc:docMk/>
          <pc:sldMk cId="0" sldId="272"/>
        </pc:sldMkLst>
        <pc:spChg chg="mod">
          <ac:chgData name="ramsingh667531@gmail.com" userId="55f543fc4ff75894" providerId="LiveId" clId="{2F83C292-0E7C-49CB-B9D8-71F0889BB8A2}" dt="2026-10-06T09:19:03.982" v="12" actId="20577"/>
          <ac:spMkLst>
            <pc:docMk/>
            <pc:sldMk cId="0" sldId="272"/>
            <ac:spMk id="2" creationId="{00000000-0000-0000-0000-000000000000}"/>
          </ac:spMkLst>
        </pc:spChg>
      </pc:sldChg>
      <pc:sldChg chg="modSp mod">
        <pc:chgData name="ramsingh667531@gmail.com" userId="55f543fc4ff75894" providerId="LiveId" clId="{2F83C292-0E7C-49CB-B9D8-71F0889BB8A2}" dt="2026-10-06T09:19:13.069" v="14" actId="20577"/>
        <pc:sldMkLst>
          <pc:docMk/>
          <pc:sldMk cId="0" sldId="273"/>
        </pc:sldMkLst>
        <pc:spChg chg="mod">
          <ac:chgData name="ramsingh667531@gmail.com" userId="55f543fc4ff75894" providerId="LiveId" clId="{2F83C292-0E7C-49CB-B9D8-71F0889BB8A2}" dt="2026-10-06T09:19:13.069" v="14" actId="20577"/>
          <ac:spMkLst>
            <pc:docMk/>
            <pc:sldMk cId="0" sldId="273"/>
            <ac:spMk id="2" creationId="{00000000-0000-0000-0000-000000000000}"/>
          </ac:spMkLst>
        </pc:spChg>
      </pc:sldChg>
      <pc:sldChg chg="modSp mod">
        <pc:chgData name="ramsingh667531@gmail.com" userId="55f543fc4ff75894" providerId="LiveId" clId="{2F83C292-0E7C-49CB-B9D8-71F0889BB8A2}" dt="2026-10-06T09:19:20.139" v="16" actId="20577"/>
        <pc:sldMkLst>
          <pc:docMk/>
          <pc:sldMk cId="0" sldId="275"/>
        </pc:sldMkLst>
        <pc:spChg chg="mod">
          <ac:chgData name="ramsingh667531@gmail.com" userId="55f543fc4ff75894" providerId="LiveId" clId="{2F83C292-0E7C-49CB-B9D8-71F0889BB8A2}" dt="2026-10-06T09:19:20.139" v="16" actId="20577"/>
          <ac:spMkLst>
            <pc:docMk/>
            <pc:sldMk cId="0" sldId="275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48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7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7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1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6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2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3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90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7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56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70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78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15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32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37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13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04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4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8128" y="957665"/>
            <a:ext cx="916366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6000" dirty="0">
                <a:solidFill>
                  <a:schemeClr val="accent3"/>
                </a:solidFill>
              </a:rPr>
              <a:t>SCADA BASED </a:t>
            </a:r>
            <a:endParaRPr lang="en-US" sz="6000" dirty="0">
              <a:solidFill>
                <a:schemeClr val="accent3"/>
              </a:solidFill>
            </a:endParaRP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6000" dirty="0">
                <a:solidFill>
                  <a:schemeClr val="accent3"/>
                </a:solidFill>
              </a:rPr>
              <a:t>THERMAL POWER PLANT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0230CD-97DC-FFB6-67E1-5F45A939FD81}"/>
              </a:ext>
            </a:extLst>
          </p:cNvPr>
          <p:cNvSpPr txBox="1"/>
          <p:nvPr/>
        </p:nvSpPr>
        <p:spPr>
          <a:xfrm>
            <a:off x="5157019" y="3072581"/>
            <a:ext cx="3195484" cy="10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CD230C-C671-26CF-4466-0B9F31AD99B2}"/>
              </a:ext>
            </a:extLst>
          </p:cNvPr>
          <p:cNvSpPr txBox="1"/>
          <p:nvPr/>
        </p:nvSpPr>
        <p:spPr>
          <a:xfrm>
            <a:off x="5309419" y="3224981"/>
            <a:ext cx="3195484" cy="10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F30B2-CE95-A793-F9DD-53B8B1B328BF}"/>
              </a:ext>
            </a:extLst>
          </p:cNvPr>
          <p:cNvSpPr txBox="1"/>
          <p:nvPr/>
        </p:nvSpPr>
        <p:spPr>
          <a:xfrm>
            <a:off x="5461819" y="3377381"/>
            <a:ext cx="3195484" cy="10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82523A-EA9C-3F9E-8D14-5E00E5D98FEE}"/>
              </a:ext>
            </a:extLst>
          </p:cNvPr>
          <p:cNvSpPr txBox="1"/>
          <p:nvPr/>
        </p:nvSpPr>
        <p:spPr>
          <a:xfrm>
            <a:off x="5614219" y="3529781"/>
            <a:ext cx="3195484" cy="10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7C7DAA-8B39-1397-B20C-44DA0DCBD212}"/>
              </a:ext>
            </a:extLst>
          </p:cNvPr>
          <p:cNvSpPr txBox="1"/>
          <p:nvPr/>
        </p:nvSpPr>
        <p:spPr>
          <a:xfrm>
            <a:off x="6071419" y="3986981"/>
            <a:ext cx="3195484" cy="10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8A7EE3-3417-33DE-25A3-204C945EA8BB}"/>
              </a:ext>
            </a:extLst>
          </p:cNvPr>
          <p:cNvSpPr txBox="1"/>
          <p:nvPr/>
        </p:nvSpPr>
        <p:spPr>
          <a:xfrm>
            <a:off x="3923076" y="5373332"/>
            <a:ext cx="81460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Presented By : Vivek Rawat &amp; Vaibhav Singh</a:t>
            </a:r>
          </a:p>
          <a:p>
            <a:pPr algn="ctr"/>
            <a:r>
              <a:rPr lang="en-IN" sz="2800" dirty="0"/>
              <a:t>BSA College of Engineering &amp; Technology , Mathura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4301" y="358902"/>
            <a:ext cx="100642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495980" y="914399"/>
            <a:ext cx="10607530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7858" y="1250664"/>
            <a:ext cx="11059817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sz="2400" dirty="0"/>
              <a:t>A thermal power plant converts fuel energy into electrical energy.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sz="2400" dirty="0"/>
              <a:t>SCADA provides centralized monitoring, supervisory control, alarms and data logging.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sz="2400" dirty="0"/>
              <a:t>Automation improves reliability, safety, process visibility and operator response.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sz="2400" dirty="0"/>
              <a:t>The project presents a conceptual SCADA system for a thermal power plant.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A9A4D-4643-9B25-2E1B-5FEA4EE5A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0" y="3237979"/>
            <a:ext cx="9537289" cy="3609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5143" y="274320"/>
            <a:ext cx="997629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9032" y="1280160"/>
            <a:ext cx="10913807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Monitor temperature, pressure, flow,</a:t>
            </a:r>
            <a:r>
              <a:rPr lang="en-IN" sz="2400" dirty="0"/>
              <a:t> </a:t>
            </a:r>
            <a:r>
              <a:rPr sz="2400" dirty="0"/>
              <a:t>level,</a:t>
            </a:r>
            <a:r>
              <a:rPr lang="en-IN" sz="2400" dirty="0"/>
              <a:t> </a:t>
            </a:r>
            <a:r>
              <a:rPr sz="2400" dirty="0" err="1"/>
              <a:t>speed,vibration</a:t>
            </a:r>
            <a:r>
              <a:rPr sz="2400" dirty="0"/>
              <a:t> and electrical</a:t>
            </a:r>
            <a:r>
              <a:rPr lang="en-IN" sz="2400" dirty="0"/>
              <a:t> parameters.            </a:t>
            </a:r>
            <a:endParaRPr sz="2400" dirty="0"/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Collect field data through PLC/RTU and industrial communication networks.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Provide HMI screens, alarms, trends and historical data.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Improve operational efficiency, safety and maintenance decisions.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D01D1D-29DD-553C-06BD-612311ACB580}"/>
              </a:ext>
            </a:extLst>
          </p:cNvPr>
          <p:cNvSpPr/>
          <p:nvPr/>
        </p:nvSpPr>
        <p:spPr>
          <a:xfrm>
            <a:off x="1495976" y="914399"/>
            <a:ext cx="10646863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6150" y="274320"/>
            <a:ext cx="86509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3. Working Principle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1345" y="2502310"/>
            <a:ext cx="1417320" cy="82296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Coal Handling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98665" y="2913790"/>
            <a:ext cx="365760" cy="0"/>
          </a:xfrm>
          <a:prstGeom prst="line">
            <a:avLst/>
          </a:prstGeom>
          <a:ln w="2794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10145" y="2502310"/>
            <a:ext cx="1417320" cy="822960"/>
          </a:xfrm>
          <a:prstGeom prst="roundRect">
            <a:avLst/>
          </a:prstGeom>
          <a:solidFill>
            <a:srgbClr val="F4EBD8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Boiler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27464" y="2913790"/>
            <a:ext cx="457201" cy="0"/>
          </a:xfrm>
          <a:prstGeom prst="line">
            <a:avLst/>
          </a:prstGeom>
          <a:ln w="2794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30385" y="2502310"/>
            <a:ext cx="1417320" cy="822960"/>
          </a:xfrm>
          <a:prstGeom prst="roundRect">
            <a:avLst/>
          </a:prstGeom>
          <a:solidFill>
            <a:srgbClr val="F4EBD8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Steam Turbine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47705" y="2913790"/>
            <a:ext cx="502920" cy="0"/>
          </a:xfrm>
          <a:prstGeom prst="line">
            <a:avLst/>
          </a:prstGeom>
          <a:ln w="2794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96345" y="2502310"/>
            <a:ext cx="1417320" cy="822960"/>
          </a:xfrm>
          <a:prstGeom prst="roundRect">
            <a:avLst/>
          </a:prstGeom>
          <a:solidFill>
            <a:srgbClr val="F4EBD8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Generator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13665" y="2913790"/>
            <a:ext cx="457200" cy="0"/>
          </a:xfrm>
          <a:prstGeom prst="line">
            <a:avLst/>
          </a:prstGeom>
          <a:ln w="2794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16585" y="2502310"/>
            <a:ext cx="1417320" cy="82296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Transformer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33905" y="2913790"/>
            <a:ext cx="457200" cy="0"/>
          </a:xfrm>
          <a:prstGeom prst="line">
            <a:avLst/>
          </a:prstGeom>
          <a:ln w="2794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736825" y="2502310"/>
            <a:ext cx="1417320" cy="82296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Grid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0385" y="4102510"/>
            <a:ext cx="1417320" cy="685800"/>
          </a:xfrm>
          <a:prstGeom prst="roundRect">
            <a:avLst/>
          </a:prstGeom>
          <a:solidFill>
            <a:srgbClr val="E4F0E8"/>
          </a:solidFill>
          <a:ln>
            <a:solidFill>
              <a:srgbClr val="36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Condenser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0145" y="4102510"/>
            <a:ext cx="1417320" cy="685800"/>
          </a:xfrm>
          <a:prstGeom prst="roundRect">
            <a:avLst/>
          </a:prstGeom>
          <a:solidFill>
            <a:srgbClr val="E4F0E8"/>
          </a:solidFill>
          <a:ln>
            <a:solidFill>
              <a:srgbClr val="36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Cooling Tower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34473" y="3325270"/>
            <a:ext cx="0" cy="749808"/>
          </a:xfrm>
          <a:prstGeom prst="line">
            <a:avLst/>
          </a:prstGeom>
          <a:ln w="27940">
            <a:solidFill>
              <a:srgbClr val="367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427464" y="4440838"/>
            <a:ext cx="502921" cy="0"/>
          </a:xfrm>
          <a:prstGeom prst="line">
            <a:avLst/>
          </a:prstGeom>
          <a:ln w="27940">
            <a:solidFill>
              <a:srgbClr val="367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714233" y="3325270"/>
            <a:ext cx="0" cy="777240"/>
          </a:xfrm>
          <a:prstGeom prst="line">
            <a:avLst/>
          </a:prstGeom>
          <a:ln w="27940">
            <a:solidFill>
              <a:srgbClr val="367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AE242C2-7F63-5209-750E-9817F5E217DD}"/>
              </a:ext>
            </a:extLst>
          </p:cNvPr>
          <p:cNvSpPr/>
          <p:nvPr/>
        </p:nvSpPr>
        <p:spPr>
          <a:xfrm>
            <a:off x="1535307" y="914399"/>
            <a:ext cx="10618838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5981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t>4. Thermal Power Plant Block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234440"/>
            <a:ext cx="758952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Fuel → Boiler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984248"/>
            <a:ext cx="758952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Boiler → Superheated Steam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734056"/>
            <a:ext cx="758952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Steam → Turbine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483864"/>
            <a:ext cx="758952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Turbine →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233672"/>
            <a:ext cx="758952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Generator → Transformer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983479"/>
            <a:ext cx="758952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Transformer → Transmission Grid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1FE8A4-0BC3-B00F-E080-2414E7E60232}"/>
              </a:ext>
            </a:extLst>
          </p:cNvPr>
          <p:cNvSpPr/>
          <p:nvPr/>
        </p:nvSpPr>
        <p:spPr>
          <a:xfrm flipV="1">
            <a:off x="1525474" y="868681"/>
            <a:ext cx="10558371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6654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5. Major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9780" y="1325880"/>
            <a:ext cx="502920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Boiler</a:t>
            </a:r>
            <a:br/>
            <a:r>
              <a:t>Produces high-pressure steam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7619" y="1325880"/>
            <a:ext cx="502920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Turbine</a:t>
            </a:r>
            <a:br/>
            <a:r>
              <a:t>Converts steam energy into mechanical power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9780" y="2834639"/>
            <a:ext cx="502920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Generator</a:t>
            </a:r>
            <a:br/>
            <a:r>
              <a:t>Produces electrical energy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7619" y="2834639"/>
            <a:ext cx="502920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Condenser</a:t>
            </a:r>
            <a:br/>
            <a:r>
              <a:t>Condenses exhaust steam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9780" y="4343400"/>
            <a:ext cx="502920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Cooling Tower</a:t>
            </a:r>
            <a:br/>
            <a:r>
              <a:t>Rejects waste heat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7619" y="4343400"/>
            <a:ext cx="502920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Transformer</a:t>
            </a:r>
            <a:br/>
            <a:r>
              <a:t>Steps up voltage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9AB99-1B14-8F81-446C-76A22653F9A1}"/>
              </a:ext>
            </a:extLst>
          </p:cNvPr>
          <p:cNvSpPr/>
          <p:nvPr/>
        </p:nvSpPr>
        <p:spPr>
          <a:xfrm>
            <a:off x="1456654" y="900685"/>
            <a:ext cx="10735346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6988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6. What is SCADA?</a:t>
            </a:r>
          </a:p>
        </p:txBody>
      </p:sp>
      <p:sp>
        <p:nvSpPr>
          <p:cNvPr id="3" name="Rectangle 2"/>
          <p:cNvSpPr/>
          <p:nvPr/>
        </p:nvSpPr>
        <p:spPr>
          <a:xfrm>
            <a:off x="1456650" y="914399"/>
            <a:ext cx="10698480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33054" y="1280160"/>
            <a:ext cx="1069848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SCADA stands for Supervisory Control and Data Acquisition.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It collects real-time information from field devices and presents it to operators.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Main elements are sensors, PLC/RTU, communication network, SCADA server, </a:t>
            </a:r>
            <a:r>
              <a:rPr lang="en-IN" sz="2400" dirty="0"/>
              <a:t>      </a:t>
            </a:r>
            <a:r>
              <a:rPr lang="en-IN" sz="800" dirty="0"/>
              <a:t>.              </a:t>
            </a:r>
            <a:r>
              <a:rPr sz="2400" dirty="0"/>
              <a:t>HMI and historian.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SCADA supports supervisory control, alarms, trends and reports.</a:t>
            </a:r>
          </a:p>
        </p:txBody>
      </p:sp>
      <p:pic>
        <p:nvPicPr>
          <p:cNvPr id="6" name="Picture 5" descr="How to Create Project in Wonderware InTouch? - SCADA">
            <a:extLst>
              <a:ext uri="{FF2B5EF4-FFF2-40B4-BE49-F238E27FC236}">
                <a16:creationId xmlns:a16="http://schemas.microsoft.com/office/drawing/2014/main" id="{45B1D39C-5DEA-304C-62E9-E70C0F1CE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836" y="3603873"/>
            <a:ext cx="7029450" cy="30676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665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7. SCADA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456654" y="914399"/>
            <a:ext cx="10696015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630190" y="1463040"/>
            <a:ext cx="2103120" cy="914400"/>
          </a:xfrm>
          <a:prstGeom prst="roundRect">
            <a:avLst/>
          </a:prstGeom>
          <a:solidFill>
            <a:srgbClr val="DEE8F7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HMI / Operator Station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44790" y="1463040"/>
            <a:ext cx="2103120" cy="914400"/>
          </a:xfrm>
          <a:prstGeom prst="roundRect">
            <a:avLst/>
          </a:prstGeom>
          <a:solidFill>
            <a:srgbClr val="DEE8F7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SCADA Server</a:t>
            </a:r>
            <a:br/>
            <a:r>
              <a:t>Historian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6550" y="1463040"/>
            <a:ext cx="2103120" cy="914400"/>
          </a:xfrm>
          <a:prstGeom prst="roundRect">
            <a:avLst/>
          </a:prstGeom>
          <a:solidFill>
            <a:srgbClr val="DEE8F7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Industrial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02590" y="1463040"/>
            <a:ext cx="2103120" cy="914400"/>
          </a:xfrm>
          <a:prstGeom prst="roundRect">
            <a:avLst/>
          </a:prstGeom>
          <a:solidFill>
            <a:srgbClr val="DEE8F7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PLC / RTU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33310" y="1920240"/>
            <a:ext cx="411480" cy="0"/>
          </a:xfrm>
          <a:prstGeom prst="line">
            <a:avLst/>
          </a:prstGeom>
          <a:ln w="2794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247910" y="1920240"/>
            <a:ext cx="548640" cy="0"/>
          </a:xfrm>
          <a:prstGeom prst="line">
            <a:avLst/>
          </a:prstGeom>
          <a:ln w="2794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99670" y="1920240"/>
            <a:ext cx="502920" cy="0"/>
          </a:xfrm>
          <a:prstGeom prst="line">
            <a:avLst/>
          </a:prstGeom>
          <a:ln w="2794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55928" y="3840480"/>
            <a:ext cx="1554480" cy="685800"/>
          </a:xfrm>
          <a:prstGeom prst="roundRect">
            <a:avLst/>
          </a:prstGeom>
          <a:solidFill>
            <a:srgbClr val="EEF4EE"/>
          </a:solidFill>
          <a:ln>
            <a:solidFill>
              <a:srgbClr val="36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Boiler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62664" y="2423160"/>
            <a:ext cx="0" cy="1417320"/>
          </a:xfrm>
          <a:prstGeom prst="line">
            <a:avLst/>
          </a:prstGeom>
          <a:ln w="27940">
            <a:solidFill>
              <a:srgbClr val="367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09076" y="3840480"/>
            <a:ext cx="1554480" cy="685800"/>
          </a:xfrm>
          <a:prstGeom prst="roundRect">
            <a:avLst/>
          </a:prstGeom>
          <a:solidFill>
            <a:srgbClr val="EEF4EE"/>
          </a:solidFill>
          <a:ln>
            <a:solidFill>
              <a:srgbClr val="36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Turbine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345312" y="2423160"/>
            <a:ext cx="0" cy="1417320"/>
          </a:xfrm>
          <a:prstGeom prst="line">
            <a:avLst/>
          </a:prstGeom>
          <a:ln w="27940">
            <a:solidFill>
              <a:srgbClr val="367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18096" y="3840480"/>
            <a:ext cx="1554480" cy="685800"/>
          </a:xfrm>
          <a:prstGeom prst="roundRect">
            <a:avLst/>
          </a:prstGeom>
          <a:solidFill>
            <a:srgbClr val="EEF4EE"/>
          </a:solidFill>
          <a:ln>
            <a:solidFill>
              <a:srgbClr val="36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Generator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395334" y="2423160"/>
            <a:ext cx="0" cy="1417320"/>
          </a:xfrm>
          <a:prstGeom prst="line">
            <a:avLst/>
          </a:prstGeom>
          <a:ln w="27940">
            <a:solidFill>
              <a:srgbClr val="367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10805" y="3840480"/>
            <a:ext cx="1554480" cy="685800"/>
          </a:xfrm>
          <a:prstGeom prst="roundRect">
            <a:avLst/>
          </a:prstGeom>
          <a:solidFill>
            <a:srgbClr val="EEF4EE"/>
          </a:solidFill>
          <a:ln>
            <a:solidFill>
              <a:srgbClr val="36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rPr dirty="0"/>
              <a:t>Water System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 flipV="1">
            <a:off x="9219219" y="1920240"/>
            <a:ext cx="0" cy="1920240"/>
          </a:xfrm>
          <a:prstGeom prst="line">
            <a:avLst/>
          </a:prstGeom>
          <a:ln w="27940">
            <a:solidFill>
              <a:srgbClr val="367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37839" y="3794761"/>
            <a:ext cx="1554480" cy="685800"/>
          </a:xfrm>
          <a:prstGeom prst="roundRect">
            <a:avLst/>
          </a:prstGeom>
          <a:solidFill>
            <a:srgbClr val="EEF4EE"/>
          </a:solidFill>
          <a:ln>
            <a:solidFill>
              <a:srgbClr val="36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42B4B"/>
                </a:solidFill>
              </a:defRPr>
            </a:pPr>
            <a:r>
              <a:t>Switchyard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0679304" y="2383832"/>
            <a:ext cx="0" cy="1417320"/>
          </a:xfrm>
          <a:prstGeom prst="line">
            <a:avLst/>
          </a:prstGeom>
          <a:ln w="27940">
            <a:solidFill>
              <a:srgbClr val="367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9377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/>
            </a:pPr>
            <a:r>
              <a:t>Sensors → PLC/RTU → Network → SCADA → HMI / Historian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6986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t>8. Sensors &amp; Instrumentation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456651" y="914399"/>
            <a:ext cx="10698480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92052" y="1231000"/>
            <a:ext cx="1069848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Temperature: RTD and thermocouple.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Pressure: steam, boiler drum and condenser pressure transmitters.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Flow: steam, feedwater, fuel and cooling-water flow.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Level: boiler drum, tanks and condenser </a:t>
            </a:r>
            <a:r>
              <a:rPr sz="2400" dirty="0" err="1"/>
              <a:t>hotwell</a:t>
            </a:r>
            <a:r>
              <a:rPr sz="24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Speed and vibration: turbine-generator condition monitoring.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Actuators: control valves, dampers, pumps and motor drives.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7159" y="274320"/>
            <a:ext cx="466595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lang="en-IN" dirty="0"/>
              <a:t>9</a:t>
            </a:r>
            <a:r>
              <a:rPr dirty="0"/>
              <a:t>. Boiler Monitoring &amp;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6480" y="914399"/>
            <a:ext cx="10698480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3892" y="1270328"/>
            <a:ext cx="1069848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Monitor drum level, steam pressure, steam temperature and feedwater flow.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Maintain combustion conditions through fuel-air control.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Three-element drum-level control can use level, steam flow and feedwater flow.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SCADA displays boiler status, trends and alarm conditions.</a:t>
            </a:r>
          </a:p>
        </p:txBody>
      </p:sp>
      <p:pic>
        <p:nvPicPr>
          <p:cNvPr id="5" name="Picture 4" descr="Boiler Monitoring: Essential Safety &amp; Efficiency Guide 2026">
            <a:extLst>
              <a:ext uri="{FF2B5EF4-FFF2-40B4-BE49-F238E27FC236}">
                <a16:creationId xmlns:a16="http://schemas.microsoft.com/office/drawing/2014/main" id="{D8733262-3A9C-074F-061E-DE4F952E6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38" y="3244372"/>
            <a:ext cx="7515840" cy="35196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7154" y="274320"/>
            <a:ext cx="545226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1</a:t>
            </a:r>
            <a:r>
              <a:rPr lang="en-IN" dirty="0"/>
              <a:t>0</a:t>
            </a:r>
            <a:r>
              <a:rPr dirty="0"/>
              <a:t>. Turbine &amp; Generator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6481" y="914399"/>
            <a:ext cx="10698480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15063" y="1280160"/>
            <a:ext cx="1069848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Turbine: speed, inlet pressure, temperature, exhaust pressure and vibration.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Generator: voltage, current, frequency, MW, MVAr and power factor.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Protection and interlocks respond to dangerous conditions.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SCADA provides centralized machine-health visibility.</a:t>
            </a:r>
          </a:p>
        </p:txBody>
      </p:sp>
      <p:pic>
        <p:nvPicPr>
          <p:cNvPr id="5" name="Picture 4" descr="Steam Turbine Condition Monitoring &amp; Predictive Analytics">
            <a:extLst>
              <a:ext uri="{FF2B5EF4-FFF2-40B4-BE49-F238E27FC236}">
                <a16:creationId xmlns:a16="http://schemas.microsoft.com/office/drawing/2014/main" id="{FD3C9CA5-0C03-471C-FB37-7A103A1F9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895" y="3429000"/>
            <a:ext cx="7787149" cy="32471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5814" y="274320"/>
            <a:ext cx="499341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1</a:t>
            </a:r>
            <a:r>
              <a:rPr lang="en-IN" dirty="0"/>
              <a:t>1</a:t>
            </a:r>
            <a:r>
              <a:rPr dirty="0"/>
              <a:t>. Condenser &amp; Cooling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436986" y="914399"/>
            <a:ext cx="10698480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3890" y="1250664"/>
            <a:ext cx="1069848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Monitor condenser pressure/vacuum and cooling-water temperature.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Monitor cooling-water flow, pump status and cooling-tower fans.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Poor condenser vacuum can reduce turbine performance.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Alarms help operators identify abnormal cooling conditions quickly.</a:t>
            </a:r>
          </a:p>
        </p:txBody>
      </p:sp>
      <p:pic>
        <p:nvPicPr>
          <p:cNvPr id="5" name="Picture 4" descr="Steam Condenser | Types , Function , Diagram , Advantages">
            <a:extLst>
              <a:ext uri="{FF2B5EF4-FFF2-40B4-BE49-F238E27FC236}">
                <a16:creationId xmlns:a16="http://schemas.microsoft.com/office/drawing/2014/main" id="{8D156A5B-F5FA-6BE2-56A3-3C187237B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584" y="3438369"/>
            <a:ext cx="7370668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6650" y="274320"/>
            <a:ext cx="740151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1</a:t>
            </a:r>
            <a:r>
              <a:rPr lang="en-IN" dirty="0"/>
              <a:t>2</a:t>
            </a:r>
            <a:r>
              <a:rPr dirty="0"/>
              <a:t>. Performance Monitoring – Illustrative 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1446820" y="914399"/>
            <a:ext cx="10725516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69346" y="1447307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t>Steam Pressure Trend</a:t>
            </a:r>
          </a:p>
        </p:txBody>
      </p:sp>
      <p:cxnSp>
        <p:nvCxnSpPr>
          <p:cNvPr id="5" name="Connector 4"/>
          <p:cNvCxnSpPr>
            <a:cxnSpLocks/>
          </p:cNvCxnSpPr>
          <p:nvPr/>
        </p:nvCxnSpPr>
        <p:spPr>
          <a:xfrm>
            <a:off x="1863706" y="4967747"/>
            <a:ext cx="4297680" cy="0"/>
          </a:xfrm>
          <a:prstGeom prst="line">
            <a:avLst/>
          </a:prstGeom>
          <a:ln w="27940">
            <a:solidFill>
              <a:srgbClr val="6E7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cxnSpLocks/>
          </p:cNvCxnSpPr>
          <p:nvPr/>
        </p:nvCxnSpPr>
        <p:spPr>
          <a:xfrm flipV="1">
            <a:off x="1863706" y="2041666"/>
            <a:ext cx="0" cy="2926081"/>
          </a:xfrm>
          <a:prstGeom prst="line">
            <a:avLst/>
          </a:prstGeom>
          <a:ln w="27940">
            <a:solidFill>
              <a:srgbClr val="6E7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cxnSpLocks/>
          </p:cNvCxnSpPr>
          <p:nvPr/>
        </p:nvCxnSpPr>
        <p:spPr>
          <a:xfrm flipV="1">
            <a:off x="1863706" y="3992387"/>
            <a:ext cx="716280" cy="731520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</p:cNvCxnSpPr>
          <p:nvPr/>
        </p:nvCxnSpPr>
        <p:spPr>
          <a:xfrm flipV="1">
            <a:off x="2579986" y="3260866"/>
            <a:ext cx="716280" cy="731521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</p:cNvCxnSpPr>
          <p:nvPr/>
        </p:nvCxnSpPr>
        <p:spPr>
          <a:xfrm>
            <a:off x="3296266" y="3260866"/>
            <a:ext cx="716280" cy="243841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 flipV="1">
            <a:off x="4012546" y="2773186"/>
            <a:ext cx="716280" cy="731521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 flipV="1">
            <a:off x="4728826" y="2285507"/>
            <a:ext cx="716280" cy="487679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5445106" y="2285507"/>
            <a:ext cx="716280" cy="243839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827130" y="4687331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43410" y="3955811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259690" y="3224290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975970" y="3468131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92250" y="2736610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08530" y="2248930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24810" y="2492770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47186" y="1447307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42B4B"/>
                </a:solidFill>
              </a:defRPr>
            </a:pPr>
            <a:r>
              <a:rPr dirty="0"/>
              <a:t>Turbine Vibration Trend</a:t>
            </a:r>
          </a:p>
        </p:txBody>
      </p:sp>
      <p:cxnSp>
        <p:nvCxnSpPr>
          <p:cNvPr id="21" name="Connector 20"/>
          <p:cNvCxnSpPr>
            <a:cxnSpLocks/>
          </p:cNvCxnSpPr>
          <p:nvPr/>
        </p:nvCxnSpPr>
        <p:spPr>
          <a:xfrm>
            <a:off x="7441546" y="4967747"/>
            <a:ext cx="4297680" cy="0"/>
          </a:xfrm>
          <a:prstGeom prst="line">
            <a:avLst/>
          </a:prstGeom>
          <a:ln w="27940">
            <a:solidFill>
              <a:srgbClr val="6E7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 flipV="1">
            <a:off x="7441546" y="2041666"/>
            <a:ext cx="0" cy="2926081"/>
          </a:xfrm>
          <a:prstGeom prst="line">
            <a:avLst/>
          </a:prstGeom>
          <a:ln w="27940">
            <a:solidFill>
              <a:srgbClr val="6E7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</p:cNvCxnSpPr>
          <p:nvPr/>
        </p:nvCxnSpPr>
        <p:spPr>
          <a:xfrm flipV="1">
            <a:off x="7441546" y="3894850"/>
            <a:ext cx="716280" cy="97537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</p:cNvCxnSpPr>
          <p:nvPr/>
        </p:nvCxnSpPr>
        <p:spPr>
          <a:xfrm flipV="1">
            <a:off x="8157826" y="3797315"/>
            <a:ext cx="716280" cy="97535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 flipV="1">
            <a:off x="8874106" y="3699779"/>
            <a:ext cx="716280" cy="97536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</p:cNvCxnSpPr>
          <p:nvPr/>
        </p:nvCxnSpPr>
        <p:spPr>
          <a:xfrm flipV="1">
            <a:off x="9590386" y="3309635"/>
            <a:ext cx="716280" cy="390144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 flipV="1">
            <a:off x="10306666" y="3017026"/>
            <a:ext cx="716280" cy="292609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</p:cNvCxnSpPr>
          <p:nvPr/>
        </p:nvCxnSpPr>
        <p:spPr>
          <a:xfrm>
            <a:off x="11022946" y="3017026"/>
            <a:ext cx="716280" cy="390144"/>
          </a:xfrm>
          <a:prstGeom prst="line">
            <a:avLst/>
          </a:prstGeom>
          <a:ln w="31750">
            <a:solidFill>
              <a:srgbClr val="27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404970" y="3955811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21250" y="3858274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837530" y="3760738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553810" y="3663203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270090" y="3273059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986370" y="2980450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702650" y="3370594"/>
            <a:ext cx="73152" cy="73152"/>
          </a:xfrm>
          <a:prstGeom prst="ellipse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43666" y="5927867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E7882"/>
                </a:solidFill>
              </a:defRPr>
            </a:pPr>
            <a:r>
              <a:t>Illustrative project graphs; actual operating limits depend on plant and equipment specifications.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6483" y="274320"/>
            <a:ext cx="455644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1</a:t>
            </a:r>
            <a:r>
              <a:rPr lang="en-IN" dirty="0"/>
              <a:t>3</a:t>
            </a:r>
            <a:r>
              <a:rPr dirty="0"/>
              <a:t>. Advantages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6147" y="914399"/>
            <a:ext cx="10612448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19779" y="1371600"/>
            <a:ext cx="5029200" cy="594360"/>
          </a:xfrm>
          <a:prstGeom prst="roundRect">
            <a:avLst/>
          </a:prstGeom>
          <a:solidFill>
            <a:srgbClr val="E4F0E8"/>
          </a:solidFill>
          <a:ln>
            <a:solidFill>
              <a:srgbClr val="36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42B4B"/>
                </a:solidFill>
              </a:defRPr>
            </a:pPr>
            <a:r>
              <a:rPr sz="2400"/>
              <a:t>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9059" y="1371600"/>
            <a:ext cx="5029200" cy="594360"/>
          </a:xfrm>
          <a:prstGeom prst="roundRect">
            <a:avLst/>
          </a:prstGeom>
          <a:solidFill>
            <a:srgbClr val="FAEBEB"/>
          </a:solidFill>
          <a:ln>
            <a:solidFill>
              <a:srgbClr val="D67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42B4B"/>
                </a:solidFill>
              </a:defRPr>
            </a:pPr>
            <a:r>
              <a:rPr sz="2400" dirty="0"/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4668" y="2148840"/>
            <a:ext cx="3716082" cy="24519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Real-time monitoring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Fast fault detection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Historical data analysis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Better operator decisions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Reduced manual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9059" y="2194560"/>
            <a:ext cx="4451860" cy="24519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High initial cost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System complexity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Cybersecurity risks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Sensor/communication failures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Legacy-system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4" y="274320"/>
            <a:ext cx="233358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B"/>
                </a:solidFill>
              </a:defRPr>
            </a:pPr>
            <a:r>
              <a:rPr dirty="0"/>
              <a:t>1</a:t>
            </a:r>
            <a:r>
              <a:rPr lang="en-IN" dirty="0"/>
              <a:t>4</a:t>
            </a:r>
            <a:r>
              <a:rPr dirty="0"/>
              <a:t>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6483" y="914399"/>
            <a:ext cx="10698480" cy="45719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11626" y="1286105"/>
            <a:ext cx="10698480" cy="301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SCADA plays an important role in modern thermal power plants by providing real-time monitoring, data acquisition, alarm management and supervisory control.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The system improves plant efficiency, safety, fault detection and maintenance planning while reducing manual intervention.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rPr lang="en-IN" sz="2400" b="1" dirty="0"/>
              <a:t>:-  </a:t>
            </a:r>
            <a:r>
              <a:rPr sz="2400" dirty="0"/>
              <a:t>With future technologies such as AI, predictive maintenance, digital twins and advanced data analytics, SCADA-based thermal power plants can become more intelligent, efficient and reliable.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9E7D0C-15FB-7C9A-6606-6DC34D271DE1}"/>
              </a:ext>
            </a:extLst>
          </p:cNvPr>
          <p:cNvSpPr txBox="1"/>
          <p:nvPr/>
        </p:nvSpPr>
        <p:spPr>
          <a:xfrm>
            <a:off x="3382300" y="2485414"/>
            <a:ext cx="78264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solidFill>
                  <a:schemeClr val="accent3"/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027617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292</TotalTime>
  <Words>685</Words>
  <Application>Microsoft Office PowerPoint</Application>
  <PresentationFormat>Widescreen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ramsingh667531@gmail.com</cp:lastModifiedBy>
  <cp:revision>3</cp:revision>
  <dcterms:created xsi:type="dcterms:W3CDTF">2013-01-27T09:14:16Z</dcterms:created>
  <dcterms:modified xsi:type="dcterms:W3CDTF">2026-10-06T09:49:22Z</dcterms:modified>
  <cp:category/>
</cp:coreProperties>
</file>